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E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534095" y="-1737360"/>
            <a:ext cx="5120640" cy="5120640"/>
          </a:xfrm>
          <a:prstGeom prst="ellipse">
            <a:avLst/>
          </a:prstGeom>
          <a:solidFill>
            <a:srgbClr val="245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480560"/>
            <a:ext cx="3840480" cy="3840480"/>
          </a:xfrm>
          <a:prstGeom prst="ellipse">
            <a:avLst/>
          </a:prstGeom>
          <a:solidFill>
            <a:srgbClr val="234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32E5C1"/>
                </a:solidFill>
                <a:latin typeface="맑은 고딕"/>
                <a:ea typeface="맑은 고딕"/>
                <a:cs typeface="맑은 고딕"/>
              </a:rPr>
              <a:t>D R E A M   W O R K S H O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꿈제작소 AR 게임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39312"/>
            <a:ext cx="1371600" cy="45720"/>
          </a:xfrm>
          <a:prstGeom prst="rect">
            <a:avLst/>
          </a:prstGeom>
          <a:solidFill>
            <a:srgbClr val="32E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71600" y="385876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0">
                <a:solidFill>
                  <a:srgbClr val="D8E4E8"/>
                </a:solidFill>
                <a:latin typeface="맑은 고딕"/>
                <a:ea typeface="맑은 고딕"/>
                <a:cs typeface="맑은 고딕"/>
              </a:rPr>
              <a:t>YOUTH ECHO  ·  청년의 날 현장 체험 콘텐츠 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>
                <a:solidFill>
                  <a:srgbClr val="9FB8C0"/>
                </a:solidFill>
                <a:latin typeface="맑은 고딕"/>
                <a:ea typeface="맑은 고딕"/>
                <a:cs typeface="맑은 고딕"/>
              </a:rPr>
              <a:t>꿈제작소에서만 플레이할 수 있는 위치 기반 모바일 AR 게임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623560"/>
            <a:ext cx="4023360" cy="18288"/>
          </a:xfrm>
          <a:prstGeom prst="rect">
            <a:avLst/>
          </a:prstGeom>
          <a:solidFill>
            <a:srgbClr val="3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5943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8FACB6"/>
                </a:solidFill>
                <a:latin typeface="맑은 고딕"/>
                <a:ea typeface="맑은 고딕"/>
                <a:cs typeface="맑은 고딕"/>
              </a:rPr>
              <a:t>기획 · 개발   이 아 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8FACB6"/>
                </a:solidFill>
                <a:latin typeface="맑은 고딕"/>
                <a:ea typeface="맑은 고딕"/>
                <a:cs typeface="맑은 고딕"/>
              </a:rPr>
              <a:t>penguee@naver.com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00784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기획 의도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75104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어떤 계기로 만들었고, 무엇을 기대할 수 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1773936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04288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2395728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59152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게임의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33472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AR · 도감 · 스토리 · 배틀의 네 가지 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2432304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62656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3000" y="3054096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017520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소개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91840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실제 플레이 화면과 게임 규칙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090672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21024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43000" y="3712463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675887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 운영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950208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개인정보 · 준비물 · 행사 부스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749039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79392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43000" y="4370831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334255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활용 흐름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608576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홍보부터 경품 수령까지의 동선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4407407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937759"/>
            <a:ext cx="10515600" cy="585216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43000" y="5029199"/>
            <a:ext cx="822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992623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진행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266944"/>
            <a:ext cx="7132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완성 범위와 결정이 필요한 항목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065775"/>
            <a:ext cx="96012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66928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5820156"/>
            <a:ext cx="10113264" cy="24688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 게임은 꿈제작소 현장에서만 플레이할 수 있으며, 참가자 개인정보를 수집하지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AR게임 기획 의도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649224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1842516"/>
            <a:ext cx="6089903" cy="4087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585216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안녕하세요.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내일꿈제작소 서포터즈 이아선입니다.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면접에서 '청년의 날' 행사 아이디어를 말씀하셨던 것이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계속 마음에 남아, 꿈제작소에서만 플레이할 수 있는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모바일 AR 게임을 기획하게 되었습니다.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아이디어만 전달하기보다 직접 확인하실 수 있는 편이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판단에 도움이 될 것 같아, 실제로 플레이 가능한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형태까지 제작해 두었습니다.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청년의 날 당일 오픈해 방문을 유도하는 용도로,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이후에는 상시 콘텐츠로도 활용할 수 있습니다.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실제 꿈제작소 현장에서 동작을 확인했고,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담당자분께도 시연을 마쳤습니다.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부담 갖지 않고 편하게 검토해 주시면 감사하겠습니다.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9164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36408" y="1842516"/>
            <a:ext cx="3300984" cy="23500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시연 영상으로 확인하세요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실제 꿈제작소에서 촬영한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플레이 영상입니다.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[ 이 자리에 영상 QR 삽입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52628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36408" y="4677156"/>
            <a:ext cx="3300984" cy="12527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제안 범위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청년의 날 행사 사용은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무상으로 제공합니다.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상시 운영 · 확장은 별도 협의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이 게임은?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6596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실제 위치 기반 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04872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포켓몬 GO처럼 GPS로 위치를 인식합니다.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꿈제작소 안에 있을 때만 카메라가 열리고,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화면에 실제 공간이 배경으로 나타납니다.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2075688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6596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청년 캐릭터와 카드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04872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게임을 켠 채로 꿈제작소를 돌아다니면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층마다 다른 청년 캐릭터가 나타납니다.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대화에 성공하면 그 청년의 카드를 얻습니다.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50208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334256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224528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카드를 모으면 열리는 스토리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63440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카드가 일정 수 이상 모이면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메인 스토리가 해금됩니다. 실제 꿈제작소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구조를 옮긴 맵에서 단서를 찾아 나갑니다.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50208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0" y="4334256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24528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미스터리 해결과 배틀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663440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불이 꺼진 꿈제작소에서 단서를 모아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이상한 박사를 만나고, 모은 카드를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조합해 배틀로 사건을 해결합니다.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6596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현장 방문 유도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04872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GPS 반경 안에서만 플레이할 수 있게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설계했습니다. 게임을 하려면 직접 방문해야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하므로, 방문 자체가 게임의 조건이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2075688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65960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청년과의 공감 경험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04872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캐릭터마다 다른 고민을 이야기하고,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참가자는 대답을 고릅니다. 공감하는 선택을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했을 때 대화가 이어지도록 설계했습니다.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50208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334256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224528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공간 인지도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63440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캐릭터가 카페 · 북스텝 · 스터디룸 등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실제 공간에 배치되어 있어, 게임을 하는 동안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자연스럽게 꿈제작소를 알게 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50208"/>
            <a:ext cx="5029200" cy="2084831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0" y="4334256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400" b="1">
                <a:solidFill>
                  <a:srgbClr val="C9D4D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24528"/>
            <a:ext cx="3611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자발적 SNS 확산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663440"/>
            <a:ext cx="3611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만난 청년 캐릭터를 실제 배경과 함께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이미지로 저장 · 공유할 수 있습니다. 참가자가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직접 올리며 추가 홍보비 없이 확산됩니다.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게임의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25146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AR 게임 (메인)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91640"/>
            <a:ext cx="7680960" cy="102412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50208" y="1691640"/>
            <a:ext cx="713232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꿈제작소에 도착해 게임을 열면 카메라 배경 위에 청년 캐릭터가 나타납니다.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기기 방향을 돌리면 캐릭터의 화면상 위치도 함께 움직입니다.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43784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843784"/>
            <a:ext cx="25146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청년 카드 도감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843784"/>
            <a:ext cx="7680960" cy="102412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950208" y="2843784"/>
            <a:ext cx="713232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수집한 카드와 만났던 캐릭터의 대화 기록, 호감도를 다시 확인할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95928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25146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메인 스토리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995928"/>
            <a:ext cx="7680960" cy="102412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950208" y="3995928"/>
            <a:ext cx="713232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카드 레벨이 일정 수치 이상이면 해금됩니다.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스토리는 위치 제한 없이 어디서든 진행할 수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48072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251460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배틀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148072"/>
            <a:ext cx="7680960" cy="102412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950208" y="5148072"/>
            <a:ext cx="713232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메인 게임은 배틀이 아닌 만남과 대화 중심입니다.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배틀은 스토리 진행 중 수집한 카드를 조합해 진행합니다.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AR 메인 게임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"꿈제작소 현장에서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카메라를 열어주세요"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① 진입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44368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"왼쪽으로 방향을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돌려 보세요"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청년까지 약 13m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② 방향 안내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74336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건물 앞에서 만난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이도윤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"말을 걸어볼까요?"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③ 청년 조우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691640"/>
            <a:ext cx="4251960" cy="197510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87768" y="1842516"/>
            <a:ext cx="3849624" cy="1673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게임 방법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꿈제작소를 돌아다니면서 청년 AR 캐릭터를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만나고, 대화에 성공해야 카드를 수집합니다.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GPS로 위치를 확인하므로 현장에 있어야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카메라가 열립니다.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31336"/>
            <a:ext cx="4251960" cy="197510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87768" y="3982212"/>
            <a:ext cx="3849624" cy="1673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캐릭터를 만나지 못하면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화면에 캐릭터가 보이지 않을 때는 어느 방향으로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돌아야 하는지 화살표와 남은 거리로 안내합니다.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기기 방향을 돌리면 캐릭터의 화면상 위치도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함께 움직입니다.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청년과의 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서고민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"지금 가장 오래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붙든 생각은 뭐야?"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① 선택지 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44368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대화 성공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CARD ARCHIVED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"서고민 카드 획득"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② 카드 획득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91640"/>
            <a:ext cx="6309360" cy="128016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30368" y="1842516"/>
            <a:ext cx="5907024" cy="9784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캐릭터를 터치하면 대화가 시작됩니다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청년마다 성격이 달라 대화 내용이 다르며, 이에 적절한 대답을 고르게 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10896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EFFAF2"/>
          </a:solidFill>
          <a:ln w="12700">
            <a:solidFill>
              <a:srgbClr val="B8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30368" y="3259836"/>
            <a:ext cx="2660904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맑은 고딕"/>
                <a:ea typeface="맑은 고딕"/>
                <a:cs typeface="맑은 고딕"/>
              </a:rPr>
              <a:t>대화 성공 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적합한 대답을 하면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해당 청년의 카드가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수집됩니다.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10896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DF2F0"/>
          </a:solidFill>
          <a:ln w="12700">
            <a:solidFill>
              <a:srgbClr val="F0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76488" y="3259836"/>
            <a:ext cx="2660904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대화 실패 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어색한 대답을 고르면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캐릭터가 사라지고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대화는 실패합니다.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617720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30368" y="4768596"/>
            <a:ext cx="5907024" cy="8869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실패해도 게임은 계속됩니다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실패는 종료가 아닙니다. 다시 공간을 돌아다니면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새로운 청년 신호가 나타나며, 같은 캐릭터를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다시 만날 수도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청년 캐릭터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3346704" cy="169164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1796796"/>
            <a:ext cx="2944368" cy="1389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각종 청년 캐릭터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일하는 청년, 졸린 청년, 꿈꾸는 청년,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고민하는 청년, 도전하는 청년 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여러 모습의 청년을 만날 수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46704" cy="169164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08576" y="1796796"/>
            <a:ext cx="2944368" cy="1389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청년 캐릭터 속성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캐릭터마다 속성이 있고,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속성끼리 서로 상성이 있습니다.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(포켓몬스터의 물 · 불 · 전기 · 풀처럼)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45920"/>
            <a:ext cx="3346704" cy="169164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93024" y="1796796"/>
            <a:ext cx="2944368" cy="1389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카드를 모으면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카드 레벨이 올라가면서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메인 스토리가 열리고, 모은 카드를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배틀에서 사용할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등장 청년 캐릭터 — 10명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05072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3E8FC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서하늘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영감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512" y="4005072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E6F2FC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044952" y="4005072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이도윤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4005072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E6FAEE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75504" y="4005072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잠유진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체력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4616" y="4005072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06056" y="4005072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서고민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4005072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EF2E0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36608" y="4005072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최도전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도전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E6F2FC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문새봄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53512" y="5074920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3E8FC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44952" y="5074920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박별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영감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5074920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E6FAEE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175504" y="5074920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정이든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체력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14616" y="5074920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E6FAEE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306056" y="5074920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강모아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체력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45168" y="5074920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36608" y="5074920"/>
            <a:ext cx="1847088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오물결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감정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71616"/>
            <a:ext cx="10515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※ 각 캐릭터의 실제 이미지는 게임 화면 캡처로 교체해 주세요.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청년 도감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이도윤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호감도 52%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해금된 대화 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청년 도감 상세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691640"/>
            <a:ext cx="4023360" cy="219456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64408" y="1842516"/>
            <a:ext cx="3621024" cy="18928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관계 기록으로 남습니다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만난 청년마다 호감도가 쌓이고,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최근 만난 장소가 기록됩니다.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단순한 수집 목록이 아니라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관계의 기록으로 읽히도록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설계했습니다.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4050791"/>
            <a:ext cx="4023360" cy="1755648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64408" y="4201668"/>
            <a:ext cx="3621024" cy="14538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대화가 해금됩니다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대화를 성공할수록 그 청년과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나눈 이야기가 하나씩 열립니다.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3턴을 모두 성공하면 전체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기록을 볼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91640"/>
            <a:ext cx="4023360" cy="21945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16368" y="1842516"/>
            <a:ext cx="3621024" cy="18928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배틀 역할 안내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청년마다 속성과 팀 안에서의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역할이 표시됩니다.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어떤 청년과 조합하면 좋은지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도감에서 확인할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050791"/>
            <a:ext cx="4023360" cy="1755648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6368" y="4201668"/>
            <a:ext cx="3621024" cy="14538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다시 만나러 가기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도감에서 청년을 선택하면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 AR로 이동해 같은 청년을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다시 찾을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청년 속성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7800" y="2806858"/>
            <a:ext cx="290369" cy="210965"/>
          </a:xfrm>
          <a:prstGeom prst="line">
            <a:avLst/>
          </a:prstGeom>
          <a:ln w="25400">
            <a:solidFill>
              <a:srgbClr val="E84C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625878" y="4213873"/>
            <a:ext cx="110911" cy="341349"/>
          </a:xfrm>
          <a:prstGeom prst="line">
            <a:avLst/>
          </a:prstGeom>
          <a:ln w="25400">
            <a:solidFill>
              <a:srgbClr val="E84C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249541" y="5294421"/>
            <a:ext cx="358917" cy="0"/>
          </a:xfrm>
          <a:prstGeom prst="line">
            <a:avLst/>
          </a:prstGeom>
          <a:ln w="25400">
            <a:solidFill>
              <a:srgbClr val="E84C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121210" y="4213873"/>
            <a:ext cx="110911" cy="341349"/>
          </a:xfrm>
          <a:prstGeom prst="line">
            <a:avLst/>
          </a:prstGeom>
          <a:ln w="25400">
            <a:solidFill>
              <a:srgbClr val="E84C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09830" y="2806858"/>
            <a:ext cx="290369" cy="210965"/>
          </a:xfrm>
          <a:prstGeom prst="line">
            <a:avLst/>
          </a:prstGeom>
          <a:ln w="25400">
            <a:solidFill>
              <a:srgbClr val="E84C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752344" y="1673351"/>
            <a:ext cx="1353312" cy="1353312"/>
          </a:xfrm>
          <a:prstGeom prst="ellipse">
            <a:avLst/>
          </a:prstGeom>
          <a:solidFill>
            <a:srgbClr val="FDF0B5"/>
          </a:solidFill>
          <a:ln w="1524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1673351"/>
            <a:ext cx="1353312" cy="1353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감정</a:t>
            </a:r>
          </a:p>
        </p:txBody>
      </p:sp>
      <p:sp>
        <p:nvSpPr>
          <p:cNvPr id="16" name="Oval 15"/>
          <p:cNvSpPr/>
          <p:nvPr/>
        </p:nvSpPr>
        <p:spPr>
          <a:xfrm>
            <a:off x="4300314" y="2798018"/>
            <a:ext cx="1353312" cy="1353312"/>
          </a:xfrm>
          <a:prstGeom prst="ellipse">
            <a:avLst/>
          </a:prstGeom>
          <a:solidFill>
            <a:srgbClr val="FDF0B5"/>
          </a:solidFill>
          <a:ln w="1524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0314" y="2798018"/>
            <a:ext cx="1353312" cy="1353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8" name="Oval 17"/>
          <p:cNvSpPr/>
          <p:nvPr/>
        </p:nvSpPr>
        <p:spPr>
          <a:xfrm>
            <a:off x="3709042" y="4617765"/>
            <a:ext cx="1353312" cy="1353312"/>
          </a:xfrm>
          <a:prstGeom prst="ellipse">
            <a:avLst/>
          </a:prstGeom>
          <a:solidFill>
            <a:srgbClr val="FDF0B5"/>
          </a:solidFill>
          <a:ln w="1524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9042" y="4617765"/>
            <a:ext cx="1353312" cy="1353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체력</a:t>
            </a:r>
          </a:p>
        </p:txBody>
      </p:sp>
      <p:sp>
        <p:nvSpPr>
          <p:cNvPr id="20" name="Oval 19"/>
          <p:cNvSpPr/>
          <p:nvPr/>
        </p:nvSpPr>
        <p:spPr>
          <a:xfrm>
            <a:off x="1795645" y="4617765"/>
            <a:ext cx="1353312" cy="1353312"/>
          </a:xfrm>
          <a:prstGeom prst="ellipse">
            <a:avLst/>
          </a:prstGeom>
          <a:solidFill>
            <a:srgbClr val="FDF0B5"/>
          </a:solidFill>
          <a:ln w="1524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95645" y="4617765"/>
            <a:ext cx="1353312" cy="1353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영감</a:t>
            </a:r>
          </a:p>
        </p:txBody>
      </p:sp>
      <p:sp>
        <p:nvSpPr>
          <p:cNvPr id="22" name="Oval 21"/>
          <p:cNvSpPr/>
          <p:nvPr/>
        </p:nvSpPr>
        <p:spPr>
          <a:xfrm>
            <a:off x="1204373" y="2798018"/>
            <a:ext cx="1353312" cy="1353312"/>
          </a:xfrm>
          <a:prstGeom prst="ellipse">
            <a:avLst/>
          </a:prstGeom>
          <a:solidFill>
            <a:srgbClr val="FDF0B5"/>
          </a:solidFill>
          <a:ln w="1524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4373" y="2798018"/>
            <a:ext cx="1353312" cy="13533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도전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6173" y="2453177"/>
            <a:ext cx="768096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E84C3D"/>
                </a:solidFill>
                <a:latin typeface="맑은 고딕"/>
                <a:ea typeface="맑은 고딕"/>
                <a:cs typeface="맑은 고딕"/>
              </a:rPr>
              <a:t>이긴다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5596173"/>
            <a:ext cx="768096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E84C3D"/>
                </a:solidFill>
                <a:latin typeface="맑은 고딕"/>
                <a:ea typeface="맑은 고딕"/>
                <a:cs typeface="맑은 고딕"/>
              </a:rPr>
              <a:t>이긴다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566159"/>
            <a:ext cx="1554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100"/>
              </a:spcAft>
            </a:pPr>
            <a:r>
              <a:rPr sz="1150" b="1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청년 속성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(강점)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645920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84848" y="1796796"/>
            <a:ext cx="4352544" cy="11155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속성 = 청년의 강점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청년마다 개인의 강점이 다릅니다.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게임을 하면서 자신에게 어떤 강점이 있고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고민을 어떻게 풀어갈지 생각하게 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246120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84848" y="3396996"/>
            <a:ext cx="4352544" cy="11155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상성의 강함과 약함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배틀 시 속성은 가위바위보처럼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서로 강하고 약한 관계를 가집니다.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다만 어떤 속성도 절대적으로 강하지 않습니다.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846320"/>
            <a:ext cx="4754880" cy="118872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84848" y="4997196"/>
            <a:ext cx="4352544" cy="8869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왜 상성 구조인가?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'누가 더 우월한가'가 아니라 '어떤 상황에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어떤 강점이 필요한가'를 경험하도록 설계했습니다.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05332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감정 → 분석 → 체력 → 영감 → 도전 → 감정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속성 상성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377440" cy="786384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감정 →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691640"/>
            <a:ext cx="7936992" cy="78638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03320" y="1691640"/>
            <a:ext cx="74066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분석으로도 설명이 안 되는 감정은 본능의 결과값이다.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96896"/>
            <a:ext cx="2377440" cy="786384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596896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분석 → 체력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596896"/>
            <a:ext cx="7936992" cy="78638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3320" y="2596896"/>
            <a:ext cx="74066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정확한 분석은 체력으로 버틴 것보다 더 결론을 낸다.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02152"/>
            <a:ext cx="2377440" cy="786384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체력 → 영감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3502152"/>
            <a:ext cx="7936992" cy="78638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03320" y="3502152"/>
            <a:ext cx="74066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영감이 있어도 체력이 부족하면 실현하기 어렵다.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07408"/>
            <a:ext cx="2377440" cy="786384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407408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영감 → 도전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4407408"/>
            <a:ext cx="7936992" cy="78638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03320" y="4407408"/>
            <a:ext cx="74066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도전할 용기가 있어도 영감 없이는 행동일 뿐이다.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12664"/>
            <a:ext cx="2377440" cy="786384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312664"/>
            <a:ext cx="22860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도전 → 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5312664"/>
            <a:ext cx="7936992" cy="78638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703320" y="5312664"/>
            <a:ext cx="740664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감정으로 포기한 기회를 도전으로 이겨낸다.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263640"/>
            <a:ext cx="10515600" cy="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4128" y="6414516"/>
            <a:ext cx="10113264" cy="-3017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메인 스토리 배틀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1796796"/>
            <a:ext cx="4672583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배틀 게임 방식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수집한 카드 중 3장을 골라 카드 칸에 넣습니다.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상대의 카드와 만나 속성에 따라 승패가 갈립니다.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5074920" cy="1481328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3351276"/>
            <a:ext cx="4672583" cy="11795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카드 조합 종류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페어 — 2장이 같은 속성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무지개 — 3장이 모두 다른 속성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몰빵 — 3장이 모두 같은 속성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64608"/>
            <a:ext cx="5074920" cy="1481328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5015484"/>
            <a:ext cx="4672583" cy="11795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대표 속성 결정 방식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페어 — 겹친 2장의 속성이 대표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무지개 — 가장 먼저 낸 카드가 대표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몰빵 — 3장의 공통 속성이 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592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807" y="1796796"/>
            <a:ext cx="4672583" cy="18928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승패 판정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카드 조합으로 결정된 대표 속성으로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나와 상대의 승패가 결정됩니다.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감정 → 분석  ·  분석 → 체력  ·  체력 → 영감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영감 → 도전  ·  도전 → 감정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화살표 앞 속성이 이깁니다.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23360"/>
            <a:ext cx="3063240" cy="2322576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64807" y="4174236"/>
            <a:ext cx="2660904" cy="2020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최종 보스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이상한 박사는 직전 턴에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플레이어가 낸 대표 속성을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다음 턴에 복제합니다.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매 턴 조합을 바꾸는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전략이 필요합니다.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3라운드 중 2승하면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승리합니다.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28048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체력 게이지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감정 vs 분석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카드 3장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이상한 박사 배틀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메인 스토리 진행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코워킹A · 북스텝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카페테리아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바닥을 터치해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① 야간 탐사 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691640"/>
            <a:ext cx="1901952" cy="41148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44368" y="1691640"/>
            <a:ext cx="1719072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스크린샷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"한숨덩이가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길을 막았다"</a:t>
            </a:r>
            <a:br/>
            <a:r>
              <a:rPr sz="85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우회 / 배틀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5879592"/>
            <a:ext cx="1901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② 한숨덩이 조우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9164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30368" y="1842516"/>
            <a:ext cx="5907024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메인 스토리가 열리면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실제 꿈제작소의 건물 구조로 맵이 제작됩니다. 이 맵을 이동하며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단서를 모으고, 최종 보스와 배틀 후 결말을 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200400"/>
            <a:ext cx="6309360" cy="11704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30368" y="3351276"/>
            <a:ext cx="5907024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조작 방식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화면을 터치한 지점으로 이동하며, 실제 위치 기반이 아닙니다.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위치 제한 없이 어디서든 진행할 수 있습니다.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507992"/>
            <a:ext cx="6309360" cy="1298448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30368" y="4658868"/>
            <a:ext cx="5907024" cy="9966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플레이 흐름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스토리 해금 → 불이 꺼진 꿈제작소 탐색 → 증거 수집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→ 화가를 만나 대화 → 한숨덩이 배틀로 상처약 습득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→ 이상한 박사와 대화 후 배틀 → 선택지에 따라 다른 엔딩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스토리 맵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1842516"/>
            <a:ext cx="6272783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실제 건물 구조를 그대로 옮겼습니다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참가자가 평소 이용하는 공간이 그대로 게임 맵이 되기 때문에,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스토리를 진행하는 동안 자연스럽게 꿈제작소를 익히게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6675120" cy="12801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3351276"/>
            <a:ext cx="6272783" cy="9784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층간 이동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계단과 엘리베이터 표식을 터치하면 다른 층으로 이동합니다.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벽과 가구에는 막혀서 우회 경로를 찾아야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17720"/>
            <a:ext cx="6675120" cy="118872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4768596"/>
            <a:ext cx="6272783" cy="8869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단서와 아이템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층마다 고유한 단서와 아이템이 배치되어 있고,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획득한 물품은 가방에서 다시 확인할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69164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0" y="1847088"/>
            <a:ext cx="324612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메인 스토리 맵 구성</a:t>
            </a:r>
          </a:p>
          <a:p>
            <a:pPr algn="ctr">
              <a:lnSpc>
                <a:spcPct val="130000"/>
              </a:lnSpc>
              <a:spcAft>
                <a:spcPts val="1200"/>
              </a:spcAft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A동 · B동 · 중간 통로로 이동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A동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1층  로비(코워킹A), 북스텝,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       카페, 스튜디오, 스터디룸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2층  코워킹B, 청년거버넌스룸,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       컨설팅룸 1~4, 세미나실 1~2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3층  세미나실 3~4, 클래스룸 1~3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4층  강당, 인터뷰룸, 라운지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B동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내일꿈갤러리, 신체활동실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화면 — 메인 스토리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6400800" cy="4700016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580644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메인 스토리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주인공은 꿈제작소의 소문을 듣습니다.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"폐관 후 유령이 돌아다니는 것을 봤다.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아침에 개관하면 화장실 세 번째 칸은 뚜껑이 닫혀 있다.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청년 작가의 캔버스는 개관하면 뒤집혀 있다."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주인공은 밤에 꿈제작소로 가서 비밀을 파헤치기로 합니다.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그러다 이상한 박사를 만납니다. 박사는 청년의 꿈 카드를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연구하며 복제하고 기록을 남기고 있지만, 복제할수록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원본 카드의 힘은 약해집니다.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스토리 중간에 화가를 만나고, 그림이 뒤집어진 이유를</a:t>
            </a:r>
          </a:p>
          <a:p>
            <a:pPr algn="l">
              <a:lnSpc>
                <a:spcPct val="145000"/>
              </a:lnSpc>
              <a:spcAft>
                <a:spcPts val="1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알게 됩니다. 건물 곳곳의 한숨덩이와 마주치면 배틀이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시작됩니다. 박사와의 대화 끝에 최종 배틀로 이어집니다.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4592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36408" y="1796796"/>
            <a:ext cx="3300984" cy="19385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이상한 박사?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청년들의 꿈 카드를 몰래 복제하며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기록을 남기는 인물입니다.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복제할수록 원본 카드의 힘이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약해지지만 멈추지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069080"/>
            <a:ext cx="3703320" cy="2276856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36408" y="4219956"/>
            <a:ext cx="3300984" cy="19751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두 가지 엔딩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배틀 후 선택지에 따라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결말이 갈립니다.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복제 장치를 멈추고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    원본을 지킨다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defRPr>
            </a:pP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박사를 설득해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    기록을 함께 보존한다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 운영 안내 ① 개인정보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10515600" cy="713232"/>
          </a:xfrm>
          <a:prstGeom prst="roundRect">
            <a:avLst>
              <a:gd name="adj" fmla="val 12000"/>
            </a:avLst>
          </a:prstGeom>
          <a:solidFill>
            <a:srgbClr val="1D4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2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게임은 참가자의 개인정보를 수집하지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FDF2F0"/>
          </a:solidFill>
          <a:ln w="12700">
            <a:solidFill>
              <a:srgbClr val="F0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665476"/>
            <a:ext cx="4718303" cy="157276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수집하지 않는 것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이름 · 전화번호 · 이메일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카메라 영상 (서버로 전송되지 않음)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GPS 이동 이력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로그인 · 회원가입 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EFFAF2"/>
          </a:solidFill>
          <a:ln w="12700">
            <a:solidFill>
              <a:srgbClr val="B8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9088" y="2665476"/>
            <a:ext cx="4718303" cy="157276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7AE60"/>
                </a:solidFill>
                <a:latin typeface="맑은 고딕"/>
                <a:ea typeface="맑은 고딕"/>
                <a:cs typeface="맑은 고딕"/>
              </a:rPr>
              <a:t>대신 이렇게 처리합니다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게임 기록은 참가자 휴대폰에만 저장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참가자가 직접 삭제하는 버튼 제공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첫 실행 시 저장 방식 안내 팝업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경품은 익명 1회용 코드로만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 입장에서의 이점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56048"/>
            <a:ext cx="3346704" cy="137160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5106924"/>
            <a:ext cx="2944368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개인정보 동의서</a:t>
            </a:r>
            <a:br/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불필요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수집 항목이 없어 별도 동의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절차가 발생하지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956048"/>
            <a:ext cx="3346704" cy="137160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08576" y="5106924"/>
            <a:ext cx="2944368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데이터 보관 · 파기</a:t>
            </a:r>
            <a:br/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업무 없음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행사 후 정리할 개인정보가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존재하지 않습니다.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4956048"/>
            <a:ext cx="3346704" cy="137160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93024" y="5106924"/>
            <a:ext cx="2944368" cy="10698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유출 위험</a:t>
            </a:r>
            <a:br/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서버에 개인식별정보가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저장되지 않습니다.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 운영 안내 ② 필요한 준비물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참가자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1645920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01568" y="1645920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스마트폰과 인터넷만 있으면 됩니다. 앱 설치 · 회원가입 · 전화번호 입력이 없어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QR 스캔 후 1분 내에 시작할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32304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432304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운영 인력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2432304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01568" y="2432304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안내 1명, 경품 데스크 1명이면 충분합니다.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완주 화면을 확인하고 코드 발급 버튼을 누르는 것이 전부입니다.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18688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218688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비치물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7248" y="3218688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01568" y="3218688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QR이 인쇄된 안내물 또는 배너, 무작위 번호가 적힌 종이 입장권, 예비 수령 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05072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005072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소요 시간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27248" y="4005072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01568" y="4005072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AR 체험만 약 15분, 메인 스토리까지 완주하면 30~60분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91456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4791456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사전 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4791456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01568" y="4791456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QR 안내물 출력과 종이 입장권 준비만 하면 됩니다.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게임은 추가 개발 없이 현재 상태로 바로 사용할 수 있습니다.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577840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20116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개발 비용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27248" y="5577840"/>
            <a:ext cx="8211312" cy="713232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01568" y="5577840"/>
            <a:ext cx="76809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이미 제작이 완료된 상태로 제공합니다. 경품비만 기관에서 결정하시면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 운영 안내 ③ 행사 부스 운영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450592" cy="129844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2121408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01  안내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부스에서 QR을 스캔하고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게임 방법을 30초 안내받습니다.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종이 입장권을 함께 받습니다.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157984"/>
            <a:ext cx="228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800" b="1">
                <a:solidFill>
                  <a:srgbClr val="32E5C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645920"/>
            <a:ext cx="2450592" cy="129844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66744" y="1755648"/>
            <a:ext cx="2121408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02  체험 시작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건물 안으로 이동해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카메라를 열면 청년 캐릭터가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나타납니다.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157984"/>
            <a:ext cx="228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800" b="1">
                <a:solidFill>
                  <a:srgbClr val="32E5C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2450592" cy="129844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45936" y="1755648"/>
            <a:ext cx="2121408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03  자유 탐험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층을 옮겨 다니며 청년을 만나고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카드를 모읍니다. 부스로 돌아올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필요가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157984"/>
            <a:ext cx="228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800" b="1">
                <a:solidFill>
                  <a:srgbClr val="32E5C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1645920"/>
            <a:ext cx="2450592" cy="1298448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25128" y="1755648"/>
            <a:ext cx="2121408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04  경품 수령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완주 화면과 입장권을 제시하면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운영자가 코드를 발급하고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경품을 전달합니다.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08960"/>
            <a:ext cx="2377440" cy="694944"/>
          </a:xfrm>
          <a:prstGeom prst="roundRect">
            <a:avLst>
              <a:gd name="adj" fmla="val 10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3108960"/>
            <a:ext cx="2286000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입구 안내 부스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3108960"/>
            <a:ext cx="7936992" cy="69494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57600" y="3108960"/>
            <a:ext cx="7498079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담당 1명 · QR 안내와 게임 방법 설명, 종이 입장권 배부.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참가자를 붙잡아 둘 필요가 없어 회전이 빠릅니다.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877056"/>
            <a:ext cx="2377440" cy="694944"/>
          </a:xfrm>
          <a:prstGeom prst="roundRect">
            <a:avLst>
              <a:gd name="adj" fmla="val 10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877056"/>
            <a:ext cx="2286000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경품 데스크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877056"/>
            <a:ext cx="7936992" cy="69494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57600" y="3877056"/>
            <a:ext cx="7498079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담당 1명 · 완주 화면과 입장권 번호를 확인한 뒤 코드를 발급합니다.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1건 처리에 약 20초가 걸립니다.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45152"/>
            <a:ext cx="2377440" cy="694944"/>
          </a:xfrm>
          <a:prstGeom prst="roundRect">
            <a:avLst>
              <a:gd name="adj" fmla="val 10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8680" y="4645152"/>
            <a:ext cx="2286000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동시 수용 인원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645152"/>
            <a:ext cx="7936992" cy="694944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0" y="4645152"/>
            <a:ext cx="7498079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참가자가 각자 휴대폰으로 플레이하므로 인원 제한이 없습니다.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대기가 생길 수 있는 지점은 경품 데스크 한 곳뿐입니다.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8640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24128" y="5637276"/>
            <a:ext cx="4718303" cy="5212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네트워크 장애 대응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인터넷이 끊겨도 이미 열린 게임은 계속 진행됩니다.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경품은 종이 입장권과 확인 도장으로 처리할 수 있습니다.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48640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19088" y="5637276"/>
            <a:ext cx="4718303" cy="5212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접근성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카메라 · GPS 권한 사용이 어려운 참가자를 위해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위치 제한 없는 체험 모드를 제공합니다.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활용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487168" cy="658368"/>
          </a:xfrm>
          <a:prstGeom prst="roundRect">
            <a:avLst>
              <a:gd name="adj" fmla="val 30000"/>
            </a:avLst>
          </a:prstGeom>
          <a:solidFill>
            <a:srgbClr val="F9F9F9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STEP 01</a:t>
            </a:r>
          </a:p>
        </p:txBody>
      </p:sp>
      <p:sp>
        <p:nvSpPr>
          <p:cNvPr id="11" name="Oval 10"/>
          <p:cNvSpPr/>
          <p:nvPr/>
        </p:nvSpPr>
        <p:spPr>
          <a:xfrm>
            <a:off x="3186684" y="1837943"/>
            <a:ext cx="457200" cy="457200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6684" y="1837943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78608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2729484"/>
            <a:ext cx="2084832" cy="16642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SNS · 현장 홍보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청년의 날에 맞춰 게임을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오픈하고, 포스터 · SNS ·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 배너에 QR을 배치합니다.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737360"/>
            <a:ext cx="2487168" cy="658368"/>
          </a:xfrm>
          <a:prstGeom prst="roundRect">
            <a:avLst>
              <a:gd name="adj" fmla="val 30000"/>
            </a:avLst>
          </a:prstGeom>
          <a:solidFill>
            <a:srgbClr val="F2F5F6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20440" y="1737360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STEP 02</a:t>
            </a:r>
          </a:p>
        </p:txBody>
      </p:sp>
      <p:sp>
        <p:nvSpPr>
          <p:cNvPr id="17" name="Oval 16"/>
          <p:cNvSpPr/>
          <p:nvPr/>
        </p:nvSpPr>
        <p:spPr>
          <a:xfrm>
            <a:off x="5884164" y="1837943"/>
            <a:ext cx="457200" cy="457200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4164" y="1837943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578608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21608" y="2729484"/>
            <a:ext cx="2084832" cy="16642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방문 후 게임 시작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앱 설치와 회원가입이 없어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QR 하나로 바로 시작합니다.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진입 장벽이 거의 없습니다.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37360"/>
            <a:ext cx="2487168" cy="658368"/>
          </a:xfrm>
          <a:prstGeom prst="roundRect">
            <a:avLst>
              <a:gd name="adj" fmla="val 30000"/>
            </a:avLst>
          </a:prstGeom>
          <a:solidFill>
            <a:srgbClr val="E9EFF1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0" y="1737360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STEP 03</a:t>
            </a:r>
          </a:p>
        </p:txBody>
      </p:sp>
      <p:sp>
        <p:nvSpPr>
          <p:cNvPr id="23" name="Oval 22"/>
          <p:cNvSpPr/>
          <p:nvPr/>
        </p:nvSpPr>
        <p:spPr>
          <a:xfrm>
            <a:off x="8581644" y="1837943"/>
            <a:ext cx="457200" cy="457200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1644" y="1837943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78608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19088" y="2729484"/>
            <a:ext cx="2084832" cy="16642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공간을 돌며 체험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층마다 다른 청년을 만나며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카페 · 북스텝 · 스터디룸 등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실제 공간을 알게 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737360"/>
            <a:ext cx="2487168" cy="658368"/>
          </a:xfrm>
          <a:prstGeom prst="roundRect">
            <a:avLst>
              <a:gd name="adj" fmla="val 30000"/>
            </a:avLst>
          </a:prstGeom>
          <a:solidFill>
            <a:srgbClr val="DEE8EB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15400" y="1737360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STEP 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2578608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16568" y="2729484"/>
            <a:ext cx="2084832" cy="166420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완주와 재확산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스토리를 완주하고 경품을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받습니다. 기록 이미지를 SNS에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공유하며 홍보가 이어집니다.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10000"/>
            </a:avLst>
          </a:prstGeom>
          <a:solidFill>
            <a:srgbClr val="FDF0B5"/>
          </a:solidFill>
          <a:ln w="12700">
            <a:solidFill>
              <a:srgbClr val="E8C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홍보 → 방문 → 체험 → 재확산이 하나의 흐름으로 이어집니다.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779008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 w="12700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4128" y="5929884"/>
            <a:ext cx="10113264" cy="2651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행사 이후에는 신규 방문자를 위한 상시 공간 안내 콘텐츠로 전환해 활용할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3" y="502920"/>
            <a:ext cx="566928" cy="566928"/>
          </a:xfrm>
          <a:prstGeom prst="ellipse">
            <a:avLst/>
          </a:prstGeom>
          <a:solidFill>
            <a:srgbClr val="FDF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3949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02336"/>
            <a:ext cx="96926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30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진행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4577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6345936"/>
            <a:ext cx="10545775" cy="1371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꿈제작소 AR 게임 · YOUTH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008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AAAAAA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FFAF2"/>
          </a:solidFill>
          <a:ln w="12700">
            <a:solidFill>
              <a:srgbClr val="B8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1796796"/>
            <a:ext cx="4718303" cy="19842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7AE60"/>
                </a:solidFill>
                <a:latin typeface="맑은 고딕"/>
                <a:ea typeface="맑은 고딕"/>
                <a:cs typeface="맑은 고딕"/>
              </a:rPr>
              <a:t>완성 및 검증된 범위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AR 청년 조우와 대화 · 카드 수집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청년 도감과 호감도 기록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메인 스토리 탐사와 배틀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운영자용 경품 코드 화면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실제 꿈제작소 현장 동작 확인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9088" y="1796796"/>
            <a:ext cx="4718303" cy="19842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기관에서 결정해 주실 것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청년의 날 사용 여부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경품 종류와 수령 기준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종이 입장권 번호 규칙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안내 · 경품 데스크 담당자 각 1명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QR 안내물 또는 배너 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E8F7F4"/>
          </a:solidFill>
          <a:ln w="12700">
            <a:solidFill>
              <a:srgbClr val="32E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4265676"/>
            <a:ext cx="4718303" cy="9966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안정적인 운영 환경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만료 없는 상용 호스팅에 배포해 운영합니다.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주 링크와 예비 링크를 이중으로 준비해</a:t>
            </a:r>
          </a:p>
          <a:p>
            <a:pPr algn="ctr">
              <a:lnSpc>
                <a:spcPct val="140000"/>
              </a:lnSpc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행사 당일 장애에 대비합니다.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120640" cy="1298448"/>
          </a:xfrm>
          <a:prstGeom prst="roundRect">
            <a:avLst>
              <a:gd name="adj" fmla="val 5000"/>
            </a:avLst>
          </a:prstGeom>
          <a:solidFill>
            <a:srgbClr val="F7F1E3"/>
          </a:solidFill>
          <a:ln w="12700">
            <a:solidFill>
              <a:srgbClr val="C9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4261104"/>
            <a:ext cx="45720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500"/>
              </a:spcAft>
            </a:pPr>
            <a:r>
              <a:rPr sz="1300" b="1">
                <a:solidFill>
                  <a:srgbClr val="1D4556"/>
                </a:solidFill>
                <a:latin typeface="맑은 고딕"/>
                <a:ea typeface="맑은 고딕"/>
                <a:cs typeface="맑은 고딕"/>
              </a:rPr>
              <a:t>제공 범위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행사 사용은 무상으로 제공합니다.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상시 운영 · 콘텐츠 추가 · 호스팅 이전은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별도 협의가 필요합니다.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기획과 저작권은 제작자에게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77840"/>
            <a:ext cx="10515600" cy="768096"/>
          </a:xfrm>
          <a:prstGeom prst="roundRect">
            <a:avLst>
              <a:gd name="adj" fmla="val 10000"/>
            </a:avLst>
          </a:prstGeom>
          <a:solidFill>
            <a:srgbClr val="1D4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1014984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테스트는 이미 완료했습니다.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B8D8DF"/>
                </a:solidFill>
                <a:latin typeface="맑은 고딕"/>
                <a:ea typeface="맑은 고딕"/>
                <a:cs typeface="맑은 고딕"/>
              </a:rPr>
              <a:t>진행 여부를 알려주시면 행사 일정에 맞춰 준비하겠습니다.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